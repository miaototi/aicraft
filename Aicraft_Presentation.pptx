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58A6FF"/>
                </a:solidFill>
                <a:latin typeface="Consolas"/>
              </a:defRPr>
            </a:pPr>
            <a:r>
              <a:t>AICRAFT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onsolas"/>
              </a:defRPr>
            </a:pPr>
            <a:r>
              <a:t>High-Performance Machine Learning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onsolas"/>
              </a:defRPr>
            </a:pPr>
            <a:r>
              <a:t>Zero dependencies  •  Pure C/C++  •  SIMD-Optimized  •  Edge/Embedded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20624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A6FF"/>
                </a:solidFill>
                <a:latin typeface="Consolas"/>
              </a:defRPr>
            </a:pPr>
            <a:r>
              <a:t>v1.0.0  —  75 tests 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platform.h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Platform / SIMD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memory.h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Arena &amp; Pool allocators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tensor.h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82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N-D Tensors + autograd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tensor_ops.h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05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add, sub, mul, div, matmul, reshape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autograd.h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28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Reverse-mode autodiff (22 ops)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18872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simd_math.h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SIMD kernels + BLIS GEMM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01168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fast_math.h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Vectorized exp/sigmoid/tanh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83464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layers.h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182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Dense, Conv2D, BN, Dropout, Pool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65760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loss.h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005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MSE, CE, BCE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48056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optimizer.h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828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SGD/Adam/AdamW + LR schedulers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118872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quantize.h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INT8 quantization engine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01168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serialize.h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Binary model save/load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83464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error.h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3182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Error codes + callbacks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365760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thread_pool.h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4005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Parallel GEMM threading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Header-only  •  14 modules  •  All hot paths inlined  •  Zero function-call overhead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FB950"/>
                </a:solidFill>
                <a:latin typeface="Consolas"/>
              </a:defRPr>
            </a:pPr>
            <a:r>
              <a:t>Test Suite — 75/75 Passed 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Tensor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0972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SIMD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0972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Matrix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109728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Activations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48132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4813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48132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4813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Loss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148132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653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Autograd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6537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653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Optimizers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86537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653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Memory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186537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24942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Serialization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2494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24942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PRNG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494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4942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Integration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24942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6334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Error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63347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6334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Tensor Ops (Sub/Div/Resh.)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63347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6334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Autograd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263347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017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Gradient Clipping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0175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017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LR Schedulers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0175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017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Layer Backward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30175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401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Conv2D/Pool/BN Bwd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40156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3401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Autograd Sig/Tanh/Soft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340156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401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✓ INT8 Quantization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340156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FB950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0" y="4754880"/>
            <a:ext cx="5760720" cy="82296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48006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  <a:latin typeface="Consolas"/>
              </a:defRPr>
            </a:pPr>
            <a:r>
              <a:t>Results: 75 passed, 0 failed, 75 total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166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21 test sections — All passed!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onsolas"/>
              </a:defRPr>
            </a:pPr>
            <a:r>
              <a:t>XOR Training Demo — Full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029200" cy="5029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Consolas"/>
              </a:defRPr>
            </a:pPr>
            <a:r>
              <a:t>Training Loss (2→16→16→1)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8B949E"/>
                </a:solidFill>
                <a:latin typeface="Consolas"/>
              </a:defRPr>
            </a:pPr>
            <a:r>
              <a:t>  Epoch        Loss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─────  ──────────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  0    0.280944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100    0.000329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200    0.000097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300    0.000048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500    0.000019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700    0.000010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3FB950"/>
                </a:solidFill>
                <a:latin typeface="Consolas"/>
              </a:defRPr>
            </a:pPr>
            <a:r>
              <a:t>    999    0.000005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A657"/>
                </a:solidFill>
                <a:latin typeface="Consolas"/>
              </a:defRPr>
            </a:pPr>
            <a:r>
              <a:t>  Completed in 23.919 ms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FFA657"/>
                </a:solidFill>
                <a:latin typeface="Consolas"/>
              </a:defRPr>
            </a:pPr>
            <a:r>
              <a:t>  41,808 epochs/sec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09728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Consolas"/>
              </a:defRPr>
            </a:pPr>
            <a:r>
              <a:t>Predictions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8B949E"/>
                </a:solidFill>
                <a:latin typeface="Consolas"/>
              </a:defRPr>
            </a:pPr>
            <a:r>
              <a:t>  X1   X2   →   Prediction   Target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8B949E"/>
                </a:solidFill>
                <a:latin typeface="Consolas"/>
              </a:defRPr>
            </a:pPr>
            <a:r>
              <a:t>  ───  ───      ──────────   ──────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FB950"/>
                </a:solidFill>
                <a:latin typeface="Consolas"/>
              </a:defRPr>
            </a:pPr>
            <a:r>
              <a:t>   0    0   →     0.0034        0    ✓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FB950"/>
                </a:solidFill>
                <a:latin typeface="Consolas"/>
              </a:defRPr>
            </a:pPr>
            <a:r>
              <a:t>   0    1   →     0.9987        1    ✓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FB950"/>
                </a:solidFill>
                <a:latin typeface="Consolas"/>
              </a:defRPr>
            </a:pPr>
            <a:r>
              <a:t>   1    0   →     0.9977        1    ✓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3FB950"/>
                </a:solidFill>
                <a:latin typeface="Consolas"/>
              </a:defRPr>
            </a:pPr>
            <a:r>
              <a:t>   1    1   →     0.0015        0    ✓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3FB950"/>
                </a:solidFill>
                <a:latin typeface="Consolas"/>
              </a:defRPr>
            </a:pPr>
            <a:r>
              <a:t>  All predictions correct!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57200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Pipeline Used: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Dense(2→16) → ReLU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Dense(16→16) → ReLU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Dense(16→1) → Sigmoid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MSE Loss + Adam optimizer (lr=0.01)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FFA657"/>
                </a:solidFill>
                <a:latin typeface="Consolas"/>
              </a:defRPr>
            </a:pPr>
            <a:r>
              <a:t>  Arena checkpoint/restore per epoch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onsolas"/>
              </a:defRPr>
            </a:pPr>
            <a:r>
              <a:t>Performance Benchmarks (AVX-512)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vs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vs TensorFlow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GEMM 512×512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D1D9"/>
                </a:solidFill>
                <a:latin typeface="Consolas"/>
              </a:defRPr>
            </a:pPr>
            <a:r>
              <a:t>2.112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+85.1%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+86.0%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86000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MLP Forward (b=32)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D1D9"/>
                </a:solidFill>
                <a:latin typeface="Consolas"/>
              </a:defRPr>
            </a:pPr>
            <a:r>
              <a:t>0.667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+43.5%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+46.7%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34639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346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Full Train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834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D1D9"/>
                </a:solidFill>
                <a:latin typeface="Consolas"/>
              </a:defRPr>
            </a:pPr>
            <a:r>
              <a:t>4.327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834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+34.9%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34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+39.1%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83279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832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4× elem-wise (1M)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383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D1D9"/>
                </a:solidFill>
                <a:latin typeface="Consolas"/>
              </a:defRPr>
            </a:pPr>
            <a:r>
              <a:t>2.863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1465 M elem/s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31920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Dot Product (1M)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D1D9"/>
                </a:solidFill>
                <a:latin typeface="Consolas"/>
              </a:defRPr>
            </a:pPr>
            <a:r>
              <a:t>0.339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6.18 GFLOPS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720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FFA6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657"/>
                </a:solidFill>
                <a:latin typeface="Consolas"/>
              </a:defRPr>
            </a:pPr>
            <a:r>
              <a:t>Memory Allocation (1000× 4KB)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3FB950"/>
                </a:solidFill>
                <a:latin typeface="Consolas"/>
              </a:defRPr>
            </a:pPr>
            <a:r>
              <a:t>Arena Allocator:  0.0319 ms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F85149"/>
                </a:solidFill>
                <a:latin typeface="Consolas"/>
              </a:defRPr>
            </a:pPr>
            <a:r>
              <a:t>System malloc:    1.0248 ms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FFA657"/>
                </a:solidFill>
                <a:latin typeface="Consolas"/>
              </a:defRPr>
            </a:pPr>
            <a:r>
              <a:t>Arena speedup:    96.9% faster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5720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onsolas"/>
              </a:defRPr>
            </a:pPr>
            <a:r>
              <a:t>Why Aicraft is faster: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074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• No Python interpreter overhead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• Zero dynamic dispatch / vtable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• Arena allocator (no malloc)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• Hand-tuned SIMD + BLIS GEMM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9D1D9"/>
                </a:solidFill>
                <a:latin typeface="Consolas"/>
              </a:defRPr>
            </a:pPr>
            <a:r>
              <a:t>• Fused ops (FMA, softmax+CE)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onsolas"/>
              </a:defRPr>
            </a:pPr>
            <a:r>
              <a:t>SIMD — Multi-Architecture Support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89920" cy="777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79C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61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9C0FF"/>
                </a:solidFill>
                <a:latin typeface="Consolas"/>
              </a:defRPr>
            </a:pPr>
            <a:r>
              <a:t>AVX-512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onsolas"/>
              </a:defRPr>
            </a:pPr>
            <a:r>
              <a:t>16-wide (512-bit)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onsolas"/>
              </a:defRPr>
            </a:pPr>
            <a:r>
              <a:t>6×32 GEMM 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x86_64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0789920" cy="777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Consolas"/>
              </a:defRPr>
            </a:pPr>
            <a:r>
              <a:t>AVX2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onsolas"/>
              </a:defRPr>
            </a:pPr>
            <a:r>
              <a:t>8-wide (256-bit)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onsolas"/>
              </a:defRPr>
            </a:pPr>
            <a:r>
              <a:t>6×16 GEMM kernel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x86_64 desktop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789920" cy="777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FFA6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657"/>
                </a:solidFill>
                <a:latin typeface="Consolas"/>
              </a:defRPr>
            </a:pPr>
            <a:r>
              <a:t>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onsolas"/>
              </a:defRPr>
            </a:pPr>
            <a:r>
              <a:t>4-wide (128-bit)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onsolas"/>
              </a:defRPr>
            </a:pPr>
            <a:r>
              <a:t>Scalar GEMM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Legacy x86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10789920" cy="777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42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Consolas"/>
              </a:defRPr>
            </a:pPr>
            <a:r>
              <a:t>NEON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onsolas"/>
              </a:defRPr>
            </a:pPr>
            <a:r>
              <a:t>4-wide (128-bit)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onsolas"/>
              </a:defRPr>
            </a:pPr>
            <a:r>
              <a:t>6×8 GEMM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ARM / Embedded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10789920" cy="777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8B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02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49E"/>
                </a:solidFill>
                <a:latin typeface="Consolas"/>
              </a:defRPr>
            </a:pPr>
            <a:r>
              <a:t>Scalar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onsolas"/>
              </a:defRPr>
            </a:pPr>
            <a:r>
              <a:t>1-wide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onsolas"/>
              </a:defRPr>
            </a:pPr>
            <a:r>
              <a:t>Scalar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Any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86400"/>
            <a:ext cx="10789920" cy="914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B950"/>
                </a:solidFill>
                <a:latin typeface="Consolas"/>
              </a:defRPr>
            </a:pPr>
            <a:r>
              <a:t>NEON: Real ARM Intrinsics — Not Just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vaddq_f32 • vmulq_f32 • vfmaq_f32 • vfmsq_f32 • vrecpeq_f32 • vmovn_u32 • vaddvq_f32 • vmaxvq_f32 • vcgtq_f32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onsolas"/>
              </a:defRPr>
            </a:pPr>
            <a:r>
              <a:t>INT8 Quantization — Edge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Consolas"/>
              </a:defRPr>
            </a:pPr>
            <a:r>
              <a:t>Quantization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A657"/>
                </a:solidFill>
                <a:latin typeface="Consolas"/>
              </a:defRPr>
            </a:pPr>
            <a:r>
              <a:t>1. Calibrate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9D1D9"/>
                </a:solidFill>
                <a:latin typeface="Consolas"/>
              </a:defRPr>
            </a:pPr>
            <a:r>
              <a:t>   Scan weights → min/max → scale + zero_point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A657"/>
                </a:solidFill>
                <a:latin typeface="Consolas"/>
              </a:defRPr>
            </a:pPr>
            <a:r>
              <a:t>2. Quantize (float32 → uint8)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9D1D9"/>
                </a:solidFill>
                <a:latin typeface="Consolas"/>
              </a:defRPr>
            </a:pPr>
            <a:r>
              <a:t>   q = clamp(round(x / scale) + zp, 0, 255)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3FB950"/>
                </a:solidFill>
                <a:latin typeface="Consolas"/>
              </a:defRPr>
            </a:pPr>
            <a:r>
              <a:t>   SIMD-accelerated (NEON + AVX2)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A657"/>
                </a:solidFill>
                <a:latin typeface="Consolas"/>
              </a:defRPr>
            </a:pPr>
            <a:r>
              <a:t>3. INT8 Inference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9D1D9"/>
                </a:solidFill>
                <a:latin typeface="Consolas"/>
              </a:defRPr>
            </a:pPr>
            <a:r>
              <a:t>   INT8 matmul → INT32 accumulation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9D1D9"/>
                </a:solidFill>
                <a:latin typeface="Consolas"/>
              </a:defRPr>
            </a:pPr>
            <a:r>
              <a:t>   Dequantize output → float32 + bias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A657"/>
                </a:solidFill>
                <a:latin typeface="Consolas"/>
              </a:defRPr>
            </a:pPr>
            <a:r>
              <a:t>4. Result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3FB950"/>
                </a:solidFill>
                <a:latin typeface="Consolas"/>
              </a:defRPr>
            </a:pPr>
            <a:r>
              <a:t>   ~4× smaller model, edge-deployable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FFA6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657"/>
                </a:solidFill>
                <a:latin typeface="Consolas"/>
              </a:defRPr>
            </a:pPr>
            <a:r>
              <a:t>Model Size: 10K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916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9D1D9"/>
                </a:solidFill>
                <a:latin typeface="Consolas"/>
              </a:defRPr>
            </a:pPr>
            <a:r>
              <a:t>  FP32:  40,000 bytes  (39.1 KB)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3FB950"/>
                </a:solidFill>
                <a:latin typeface="Consolas"/>
              </a:defRPr>
            </a:pPr>
            <a:r>
              <a:t>  INT8:  10,000 bytes  ( 9.8 KB)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FA657"/>
                </a:solidFill>
                <a:latin typeface="Consolas"/>
              </a:defRPr>
            </a:pPr>
            <a:r>
              <a:t>  Compression: ~4.0×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Consolas"/>
              </a:defRPr>
            </a:pPr>
            <a:r>
              <a:t>Quantization Tests — 4/4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520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  ✓ Roundtrip accuracy (max err &lt; 0.02)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  ✓ Calibration (scale ≈ 0.00784)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  ✓ Quantized dense forward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  ✓ Model size estimation (4× compression)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Consolas"/>
              </a:defRPr>
            </a:pPr>
            <a:r>
              <a:t>Target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C9D1D9"/>
                </a:solidFill>
                <a:latin typeface="Consolas"/>
              </a:defRPr>
            </a:pPr>
            <a:r>
              <a:t>  ARM Cortex-M/A  •  Raspberry Pi  •  STM32  •  Android NDK  •  iOS  •  Edge TPU pre-processing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Consolas"/>
              </a:defRPr>
            </a:pPr>
            <a:r>
              <a:t>  Asymmetric per-tensor affine  •  Zero-point ensures real 0 representation  •  No external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onsolas"/>
              </a:defRPr>
            </a:pPr>
            <a:r>
              <a:t>Autograd Engine — 22 Backward Ops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029200" cy="5029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Consolas"/>
              </a:defRPr>
            </a:pPr>
            <a:r>
              <a:t>Supported Backward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A657"/>
                </a:solidFill>
                <a:latin typeface="Consolas"/>
              </a:defRPr>
            </a:pPr>
            <a:r>
              <a:t>  Arithmetic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ADD, SUB, MUL, DIV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SCALE, BIAS_ADD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A657"/>
                </a:solidFill>
                <a:latin typeface="Consolas"/>
              </a:defRPr>
            </a:pPr>
            <a:r>
              <a:t>  Linear Algebra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MATMUL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A657"/>
                </a:solidFill>
                <a:latin typeface="Consolas"/>
              </a:defRPr>
            </a:pPr>
            <a:r>
              <a:t>  Activations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RELU, SIGMOID, TANH, SOFTMAX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A657"/>
                </a:solidFill>
                <a:latin typeface="Consolas"/>
              </a:defRPr>
            </a:pPr>
            <a:r>
              <a:t>  Reductions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SUM, MEAN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A657"/>
                </a:solidFill>
                <a:latin typeface="Consolas"/>
              </a:defRPr>
            </a:pPr>
            <a:r>
              <a:t>  Loss Functions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MSE_LOSS, CE_LOSS, BCE_LOSS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A657"/>
                </a:solidFill>
                <a:latin typeface="Consolas"/>
              </a:defRPr>
            </a:pPr>
            <a:r>
              <a:t>  Structural / Layers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FLATTEN, RESHAPE, DROPOUT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  MAXPOOL, BATCHNORM, CONV2D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0972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Consolas"/>
              </a:defRPr>
            </a:pPr>
            <a:r>
              <a:t>Design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• Dynamic computational graph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Consolas"/>
              </a:defRPr>
            </a:pPr>
            <a:r>
              <a:t>    (no static graph limits)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• Reverse-mode autodiff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Consolas"/>
              </a:defRPr>
            </a:pPr>
            <a:r>
              <a:t>    with topological sorting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• Gradient accumulation support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C9D1D9"/>
                </a:solidFill>
                <a:latin typeface="Consolas"/>
              </a:defRPr>
            </a:pPr>
            <a:r>
              <a:t>  • In-place gradient clipping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Consolas"/>
              </a:defRPr>
            </a:pPr>
            <a:r>
              <a:t>    (L2 norm + value clipping)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65760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Consolas"/>
              </a:defRPr>
            </a:pPr>
            <a:r>
              <a:t>Full Layer Backward Passes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  ✓ Conv2D backward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Consolas"/>
              </a:defRPr>
            </a:pPr>
            <a:r>
              <a:t>    weight, bias, and input grads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  ✓ MaxPool2D backward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Consolas"/>
              </a:defRPr>
            </a:pPr>
            <a:r>
              <a:t>    grad routes only to max elements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  ✓ BatchNorm backward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Consolas"/>
              </a:defRPr>
            </a:pPr>
            <a:r>
              <a:t>    input &amp; gamma grads verified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3FB950"/>
                </a:solidFill>
                <a:latin typeface="Consolas"/>
              </a:defRPr>
            </a:pPr>
            <a:r>
              <a:t>  ✓ Sigmoid / Tanh / Softmax / Mean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Consolas"/>
              </a:defRPr>
            </a:pPr>
            <a:r>
              <a:t>    numerical gradient checks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onsolas"/>
              </a:defRPr>
            </a:pPr>
            <a:r>
              <a:t>Aicraft vs PyTorch / TensorFlow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onsolas"/>
              </a:defRPr>
            </a:pPr>
            <a:r>
              <a:t>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9728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onsolas"/>
              </a:defRPr>
            </a:pPr>
            <a:r>
              <a:t>PyTorch / 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097280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Consolas"/>
              </a:defRPr>
            </a:pPr>
            <a:r>
              <a:t>Aicraft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7276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Python + C++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72768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Pure C/C++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48256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4825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4825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Hundreds of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048256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Zero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23744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23744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52374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malloc/free per 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523744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Arena allocator + checkpoint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99232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9923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SIMD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99923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Generic BLAS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999232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Hand-tuned AVX-512/NEON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474720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7472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GEMM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47472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External MKL/OpenBLAS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474720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BLIS-style tiled (built-in)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50208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5020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Autograd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95020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22 ops (Python overhead)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950208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22 ops (zero overhead, inlined)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425696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2569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Quantization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42569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Separate library (QNNX)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425696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Built-in INT8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901184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01184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Error Handling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90118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Python exceptions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01184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Error codes + callbacks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376672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37667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Model Size (10K)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7667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~40 KB (FP32)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5376672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~10 KB (INT8)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852160"/>
            <a:ext cx="10972800" cy="42062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85216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Edge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85216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onsolas"/>
              </a:defRPr>
            </a:pPr>
            <a:r>
              <a:t>ONNX export + runtime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852160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onsolas"/>
              </a:defRPr>
            </a:pPr>
            <a:r>
              <a:t>Native, single header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58A6FF"/>
                </a:solidFill>
                <a:latin typeface="Consolas"/>
              </a:defRPr>
            </a:pPr>
            <a:r>
              <a:t>AICRAFT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58A6FF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onsolas"/>
              </a:defRPr>
            </a:pPr>
            <a:r>
              <a:t>Header-only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5420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58A6FF"/>
                </a:solidFill>
                <a:latin typeface="Consolas"/>
              </a:defRPr>
            </a:pPr>
            <a: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542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onsolas"/>
              </a:defRPr>
            </a:pPr>
            <a:r>
              <a:t>Tests across 21 sections (100% passing)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0723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58A6FF"/>
                </a:solidFill>
                <a:latin typeface="Consolas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0723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onsolas"/>
              </a:defRPr>
            </a:pPr>
            <a:r>
              <a:t>Autograd backward ops (fully differentiable)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6027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58A6FF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6027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onsolas"/>
              </a:defRPr>
            </a:pPr>
            <a:r>
              <a:t>SIMD architectures (AVX-512/AVX2/SSE/NEON)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3308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58A6FF"/>
                </a:solidFill>
                <a:latin typeface="Consolas"/>
              </a:defRPr>
            </a:pPr>
            <a:r>
              <a:t>4×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13308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onsolas"/>
              </a:defRPr>
            </a:pPr>
            <a:r>
              <a:t>Model compression (INT8 quantization)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58A6FF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onsolas"/>
              </a:defRPr>
            </a:pPr>
            <a:r>
              <a:t>External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193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58A6FF"/>
                </a:solidFill>
                <a:latin typeface="Consolas"/>
              </a:defRPr>
            </a:pPr>
            <a:r>
              <a:t>96.9%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1937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onsolas"/>
              </a:defRPr>
            </a:pPr>
            <a:r>
              <a:t>Arena vs malloc speedup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Pure C/C++  •  Zero Dependencies  •  Edge/Embedded Ready  • 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